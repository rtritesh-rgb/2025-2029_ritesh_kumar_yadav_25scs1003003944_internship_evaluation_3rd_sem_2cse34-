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3294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3294B"/>
                </a:solidFill>
                <a:latin typeface="Calibri"/>
              </a:rPr>
              <a:t>Total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1F3D6B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211915</c:v>
                </c:pt>
                <c:pt idx="1">
                  <c:v>245122</c:v>
                </c:pt>
                <c:pt idx="2">
                  <c:v>281724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C97F3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383285</c:v>
                </c:pt>
                <c:pt idx="1">
                  <c:v>391035</c:v>
                </c:pt>
                <c:pt idx="2">
                  <c:v>416161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Tesla</c:v>
                </c:pt>
              </c:strCache>
            </c:strRef>
          </c:tx>
          <c:spPr>
            <a:solidFill>
              <a:srgbClr val="7C8A9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96773</c:v>
                </c:pt>
                <c:pt idx="1">
                  <c:v>97690</c:v>
                </c:pt>
                <c:pt idx="2">
                  <c:v>94827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3294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3294B"/>
                </a:solidFill>
                <a:latin typeface="Calibri"/>
              </a:rPr>
              <a:t>Net Income ($M)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1F3D6B"/>
            </a:solidFill>
            <a:ln w="28575" cap="flat">
              <a:solidFill>
                <a:srgbClr val="1F3D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F3D6B"/>
              </a:solidFill>
              <a:ln w="9525" cap="flat">
                <a:solidFill>
                  <a:srgbClr val="1F3D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72361</c:v>
                </c:pt>
                <c:pt idx="1">
                  <c:v>88136</c:v>
                </c:pt>
                <c:pt idx="2">
                  <c:v>101832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C97F3F"/>
            </a:solidFill>
            <a:ln w="28575" cap="flat">
              <a:solidFill>
                <a:srgbClr val="C97F3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97F3F"/>
              </a:solidFill>
              <a:ln w="9525" cap="flat">
                <a:solidFill>
                  <a:srgbClr val="C97F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96995</c:v>
                </c:pt>
                <c:pt idx="1">
                  <c:v>93736</c:v>
                </c:pt>
                <c:pt idx="2">
                  <c:v>112010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Tesla</c:v>
                </c:pt>
              </c:strCache>
            </c:strRef>
          </c:tx>
          <c:spPr>
            <a:solidFill>
              <a:srgbClr val="7C8A9C"/>
            </a:solidFill>
            <a:ln w="28575" cap="flat">
              <a:solidFill>
                <a:srgbClr val="7C8A9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7C8A9C"/>
              </a:solidFill>
              <a:ln w="9525" cap="flat">
                <a:solidFill>
                  <a:srgbClr val="7C8A9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14997</c:v>
                </c:pt>
                <c:pt idx="1">
                  <c:v>7091</c:v>
                </c:pt>
                <c:pt idx="2">
                  <c:v>3794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3294B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3294B"/>
                </a:solidFill>
                <a:latin typeface="Calibri"/>
              </a:rPr>
              <a:t>Cash Flow from Ops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1F3D6B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87582</c:v>
                </c:pt>
                <c:pt idx="1">
                  <c:v>118548</c:v>
                </c:pt>
                <c:pt idx="2">
                  <c:v>136162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Apple</c:v>
                </c:pt>
              </c:strCache>
            </c:strRef>
          </c:tx>
          <c:spPr>
            <a:solidFill>
              <a:srgbClr val="C97F3F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110543</c:v>
                </c:pt>
                <c:pt idx="1">
                  <c:v>118254</c:v>
                </c:pt>
                <c:pt idx="2">
                  <c:v>111482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Tesla</c:v>
                </c:pt>
              </c:strCache>
            </c:strRef>
          </c:tx>
          <c:spPr>
            <a:solidFill>
              <a:srgbClr val="7C8A9C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13256</c:v>
                </c:pt>
                <c:pt idx="1">
                  <c:v>14923</c:v>
                </c:pt>
                <c:pt idx="2">
                  <c:v>14747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47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yourself, the university, and clarify up front that this is a Forage virtual job simulation inspired by BCG's GenAI consulting work — not a paid internship or employment with BCG.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 academic background. Emphasize the course, year, and that this profile relates to a Forage simulation track, not a formal job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what a Forage job simulation is: a self-paced set of realistic tasks designed by a company (here, BCG) to give students exposure to the kind of work their consultants do. Explicitly state this is not employment.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overall narrative for the whole presentation: Data leads to Analysis, which produces Insight, which is then applied in the chatbot. Refer back to this flow when introducing Task 1 and Task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objectives quickly, noting that they map directly onto Task 1 (objectives 1-4) and Task 2 (objectives 5-6).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the bridge slide: Task 1's structured dataset becomes the direct input to Task 2's chatbot logic. This is the core Data -&gt; Application story of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manual extraction process from SEC EDGAR and the fiscal year-end mismatch — this is an important nuance that shows careful analysis, not just data copying.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chart briefly: revenue shows Microsoft's steep climb, net income shows Tesla's decline versus Microsoft/Apple's growth, and operating cash flow shows overall cash-generation strength. Then summarize with the three finding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chatbot as a deliberately simple, beginner-friendly prototype — no ML or NLP libraries were used, matching the task's instructions. Mention the four submitted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top to bottom: input, detection, rule matching, data lookup, and response. Point out the fallback path as a parallel branch that catches anything unmatched — this was tested explicitly in test_chatbot.py.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the tools into two logical buckets while presenting: data analysis tools (Python, pandas, Jupyter, Excel/CSV, matplotlib, SEC EDGAR) and chatbot-building tools (Python input(), if-elif-else logic).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this as one continuous eight-step pipeline, split across two rows purely for layout. Steps 1-4 correspond to Task 1; steps 5-8 correspond to Task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these as personal, reflective takeaways — what the simulation actually taught, not a restatement of features. Good place to add your own voice if presenting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candid about the limitations — evaluators value honest self-assessment. Note clearly that NLP, RAG, automated XBRL extraction, live data, and GenAI conversational ability are future directions, not part of the current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 actual submitted files. Be transparent that the certificate placeholder is left for insertion once received — do not claim a certificate exists if it hasn't been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Thank the audience/evaluators, restate your name and program, and reiterate that this presentation documents a Forage virtual job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F3D6B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457200"/>
            <a:ext cx="2011680" cy="2011680"/>
          </a:xfrm>
          <a:prstGeom prst="ellipse">
            <a:avLst/>
          </a:prstGeom>
          <a:solidFill>
            <a:srgbClr val="C97F3F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1F3D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JOB SIMULATION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BCG GenAI Job Simulation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Analysis &amp; AI-Powered Financial Chatbot Prototype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3108960" cy="0"/>
          </a:xfrm>
          <a:prstGeom prst="line">
            <a:avLst/>
          </a:prstGeom>
          <a:noFill/>
          <a:ln w="25400">
            <a:solidFill>
              <a:srgbClr val="C97F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4160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Kumar Yadav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(2nd Year) | Section 2CSE34 | Roll No. 25SCS1003003944
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Academic Year 2026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Forage   |   Organization: Boston Consulting Group (BCG)   |   Domain: Generative AI &amp; Financial Data Analysis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550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documents a self-paced virtual job simulation completed on Forage and does not represent employment or an internship with BCG.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STUDENT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Profile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834640" cy="4572000"/>
          </a:xfrm>
          <a:prstGeom prst="roundRect">
            <a:avLst>
              <a:gd name="adj" fmla="val 2903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34440" y="1783080"/>
            <a:ext cx="1463040" cy="1463040"/>
          </a:xfrm>
          <a:prstGeom prst="ellipse">
            <a:avLst/>
          </a:prstGeom>
          <a:solidFill>
            <a:srgbClr val="1F3D6B"/>
          </a:solidFill>
          <a:ln w="19050">
            <a:solidFill>
              <a:srgbClr val="C97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17830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RITESH KUMAR</a:t>
            </a:r>
            <a:endParaRPr lang="en-US" sz="17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YADAV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245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— Computer Science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34440" y="507492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97F3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234440" y="5074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Year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03320" y="1417320"/>
            <a:ext cx="3794760" cy="1051560"/>
          </a:xfrm>
          <a:prstGeom prst="roundRect">
            <a:avLst>
              <a:gd name="adj" fmla="val 782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904488" y="16184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0448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61688" y="1591056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04488" y="2002536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0" y="1417320"/>
            <a:ext cx="3794760" cy="1051560"/>
          </a:xfrm>
          <a:prstGeom prst="roundRect">
            <a:avLst>
              <a:gd name="adj" fmla="val 782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73568" y="16184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97356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1591056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Section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973568" y="2002536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|  Section 2CSE34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03320" y="2743200"/>
            <a:ext cx="3794760" cy="1051560"/>
          </a:xfrm>
          <a:prstGeom prst="roundRect">
            <a:avLst>
              <a:gd name="adj" fmla="val 782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04488" y="294436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0448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361688" y="2916936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04488" y="3328416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25SCS1003003944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772400" y="2743200"/>
            <a:ext cx="3794760" cy="1051560"/>
          </a:xfrm>
          <a:prstGeom prst="roundRect">
            <a:avLst>
              <a:gd name="adj" fmla="val 782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73568" y="294436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73568" y="2944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430768" y="2916936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973568" y="3328416"/>
            <a:ext cx="3392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703320" y="4069080"/>
            <a:ext cx="7863840" cy="1051560"/>
          </a:xfrm>
          <a:prstGeom prst="roundRect">
            <a:avLst>
              <a:gd name="adj" fmla="val 782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904488" y="427024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904488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361688" y="4242816"/>
            <a:ext cx="70043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Track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904488" y="4654296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Forage Job Simulation — BCG GenAI Consulting (Financial Data Analysis &amp; AI Applications)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PROGRAM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BCG GenAI Job Simulation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self-paced, virtual job simulation hosted on Forage, modeled on the type of Generative AI and data-driven consulting work BCG's teams engage in. Completed independently, outside of any formal employment or internship relationship with BCG.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49808" y="2468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74320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Forage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49300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job simulation platform used to deliver the exercise.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19856" y="22860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21024" y="2468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21024" y="274320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Boston Consulting Group (BCG)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3621024" y="349300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is modeled on BCG's GenAI consulting work.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91072" y="22860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92240" y="2468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74320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&amp; Financial Data Analysis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9300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structured financial data and simple AI-style applications.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62288" y="22860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363456" y="2468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363456" y="2743200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Self-Paced Virtual Simulation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349300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completed tasks, not a live team-based internship.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283696" cy="1417320"/>
          </a:xfrm>
          <a:prstGeom prst="roundRect">
            <a:avLst>
              <a:gd name="adj" fmla="val 5806"/>
            </a:avLst>
          </a:prstGeom>
          <a:solidFill>
            <a:srgbClr val="FBF3E9"/>
          </a:solidFill>
          <a:ln w="12700">
            <a:solidFill>
              <a:srgbClr val="F3E3D1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77240" y="4690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983480"/>
            <a:ext cx="108264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was completed as part of a Forage virtual job simulation. It does not represent employment, an official internship, or any client engagement with Boston Consulting Group. All tasks were self-directed using publicly available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Filings to Usable Insight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companies disclose extensive financial detail in their 10-K filings, but this data is unstructured for quick decision-making. Consulting and financial-advisory teams need a repeatable way to extract, structure, and interpret this data — and to explore how simple AI-style tools could make it more accessible.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642616"/>
            <a:ext cx="457200" cy="457200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raw financial figures from 10-K filings on SEC EDGAR.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090672" y="3383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46704" y="2423160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6160" y="2642616"/>
            <a:ext cx="457200" cy="457200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56616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and process the data using Python and pandas.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888736" y="3383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44768" y="2423160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64224" y="2642616"/>
            <a:ext cx="457200" cy="457200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64224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364224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trends, growth patterns, and financial ratios.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86800" y="33832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942832" y="2423160"/>
            <a:ext cx="2542032" cy="2377440"/>
          </a:xfrm>
          <a:prstGeom prst="roundRect">
            <a:avLst>
              <a:gd name="adj" fmla="val 3462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162288" y="2642616"/>
            <a:ext cx="457200" cy="457200"/>
          </a:xfrm>
          <a:prstGeom prst="ellipse">
            <a:avLst/>
          </a:prstGeom>
          <a:solidFill>
            <a:srgbClr val="C97F3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162288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3291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162288" y="37033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insight to a working chatbot prototype.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Simulation Set Out to Achieve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591056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Real Financial 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02536"/>
            <a:ext cx="32095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collect Total Revenue, Net Income, Total Assets, Total Liabilities, and Operating Cash Flow from official 10-K filings.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79976" y="1417320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81144" y="16184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81144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038344" y="1591056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Multi-Year Trends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81144" y="2002536"/>
            <a:ext cx="32095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Python and pandas to calculate year-over-year changes and financial ratios across FY2023–FY2025.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11312" y="1417320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16184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0" y="1591056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Across Companies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002536"/>
            <a:ext cx="32095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Microsoft, Apple, and Tesla side-by-side, accounting for differing fiscal year-ends.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118104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319272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32918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Findings Clearly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703320"/>
            <a:ext cx="32095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observations and conclusions in a structured, well-organized notebook.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79976" y="3118104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81144" y="3319272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81144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38344" y="32918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Chatbot Prototype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581144" y="3703320"/>
            <a:ext cx="32095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the analyzed dataset into a simple, rule-based Python chatbot that answers financial queries.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11312" y="3118104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12480" y="3319272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12480" y="3319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869680" y="3291840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Validate the Prototype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0" y="3703320"/>
            <a:ext cx="320954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chatbot responses with sample and edge-case queries, including a fallback for unsupported questions.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Connected Tasks, One Data Story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simulation was structured into two sequential tasks. Task 1 built the financial knowledge base; Task 2 put that knowledge to work inside an interactive chatbot.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35915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C97F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359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163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Data Analysis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375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FY2023–FY2025 data from SEC 10-K filings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Companies: Microsoft, Apple, Tesla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metrics compiled in Excel/CSV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using Python, pandas &amp; Jupyter Notebook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rates, ratios &amp; trend charts produced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3566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355080" y="210312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2359152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29400" y="23591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2816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Chatbot Prototype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337560"/>
            <a:ext cx="4709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chatbot built on the Task 1 dataset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query handling in Python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on revenue, net income, assets, liabilities, cash flow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Company/year detection with sensible defaults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+ fallback for unknown queries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DATA EXTRACTION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 the Financial Dataset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were extracted directly from each company's Form 10-K, filed with the SEC and available on EDGAR, for fiscal years 2023 through 2025.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" y="187452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87452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71216" y="187452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74336" y="187452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084064" y="187452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87184" y="187452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296912" y="187452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Liabilities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400032" y="1874520"/>
            <a:ext cx="2084832" cy="868680"/>
          </a:xfrm>
          <a:prstGeom prst="roundRect">
            <a:avLst>
              <a:gd name="adj" fmla="val 9474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509760" y="1874520"/>
            <a:ext cx="1865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from Operations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71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Covered &amp; Fiscal Year-End Dates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7315200" cy="155448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Fiscal Year-End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Covered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 – FY2025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 Saturday of September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 – FY2025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December 31 (calendar year)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 – FY2025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8138160" y="3337560"/>
            <a:ext cx="3502152" cy="2651760"/>
          </a:xfrm>
          <a:prstGeom prst="roundRect">
            <a:avLst>
              <a:gd name="adj" fmla="val 3103"/>
            </a:avLst>
          </a:prstGeom>
          <a:solidFill>
            <a:srgbClr val="FBF3E9"/>
          </a:solidFill>
          <a:ln w="12700">
            <a:solidFill>
              <a:srgbClr val="F3E3D1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8366760" y="35204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fiscal year-end matters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366760" y="38862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Microsoft, Apple, and Tesla close their books on different dates.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“FY2025” does not mean the same 12-month period for all three companies.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factored in when comparing year-over-year figures across companies.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ANALYSIS &amp; FINDINGS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Trends Across Microsoft, Apple &amp; Tesla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325880"/>
          <a:ext cx="37033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297680" y="1325880"/>
          <a:ext cx="37033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2" descr=""/>
          <p:cNvGraphicFramePr/>
          <p:nvPr/>
        </p:nvGraphicFramePr>
        <p:xfrm>
          <a:off x="8092440" y="1325880"/>
          <a:ext cx="35661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48640" y="42062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49808" y="44074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960120" y="4334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749808" y="4736592"/>
            <a:ext cx="3163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Strongest, most consistent growth across every metric — revenue rose from ~$212B to ~$282B.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334256" y="42062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35424" y="44074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745736" y="4334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535424" y="4736592"/>
            <a:ext cx="3163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 FY2024 dip was followed by record revenue and net income in FY2025 (~$416B / ~$112B).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19872" y="420624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21040" y="440740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B14A3D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531352" y="433425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Tesla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736592"/>
            <a:ext cx="31638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stayed roughly flat, but net income fell sharply — from ~$15.0B (FY2023) to ~$3.8B (FY2025).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CHATBOT PROTOTYPE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Rule-Based Financial Chatbot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25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directly on the Task 1 dataset, this beginner-friendly Python chatbot answers a defined set of financial questions using simple if-elif-else logic — no machine learning or external APIs.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3042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276856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688336"/>
            <a:ext cx="3209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structure maps each recognized query to a canned, data-backed response.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21031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23042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81144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38344" y="2276856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Input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2688336"/>
            <a:ext cx="3209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terminal using Python's input(), so a user can type questions directly.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11312" y="210312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23042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0" y="2276856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Companies Supported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2688336"/>
            <a:ext cx="3209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cover Microsoft, Apple, and Tesla across FY2023–FY2025.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21608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3922776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07008" y="3895344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Query Types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306824"/>
            <a:ext cx="3209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net income change, total assets, total liabilities, and operating cash flow.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79976" y="3721608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81144" y="3922776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81144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038344" y="3895344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Defaults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81144" y="4306824"/>
            <a:ext cx="3209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FY2025 when no year is given; prompts for a company if one isn't specified.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11312" y="3721608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0" y="3922776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412480" y="3922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869680" y="3895344"/>
            <a:ext cx="2752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Handling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4306824"/>
            <a:ext cx="32095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fallback message for any question outside the supported scope.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440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742432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1F3D6B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574243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financial_chatbot.py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88920" y="5742432"/>
            <a:ext cx="1623060" cy="365760"/>
          </a:xfrm>
          <a:prstGeom prst="roundRect">
            <a:avLst>
              <a:gd name="adj" fmla="val 50000"/>
            </a:avLst>
          </a:prstGeom>
          <a:solidFill>
            <a:srgbClr val="1F3D6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2788920" y="5742432"/>
            <a:ext cx="16230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test_chatbot.py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94860" y="5742432"/>
            <a:ext cx="1709928" cy="365760"/>
          </a:xfrm>
          <a:prstGeom prst="roundRect">
            <a:avLst>
              <a:gd name="adj" fmla="val 50000"/>
            </a:avLst>
          </a:prstGeom>
          <a:solidFill>
            <a:srgbClr val="1F3D6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94860" y="5742432"/>
            <a:ext cx="1709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test_results.txt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87668" y="5742432"/>
            <a:ext cx="1101852" cy="365760"/>
          </a:xfrm>
          <a:prstGeom prst="roundRect">
            <a:avLst>
              <a:gd name="adj" fmla="val 50000"/>
            </a:avLst>
          </a:prstGeom>
          <a:solidFill>
            <a:srgbClr val="1F3D6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87668" y="5742432"/>
            <a:ext cx="11018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Query Becomes an Answer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498080" cy="713232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1848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6184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14904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4904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question typed via input(), e.g. “What is Apple's total revenue in 2024?”</a:t>
            </a:r>
            <a:endParaRPr lang="en-US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1305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7498080" cy="713232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53288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25328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24048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Keyword, Company &amp; Year Detection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4048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checks for metric keywords, a company name, and a fiscal year in the text.</a:t>
            </a:r>
            <a:endParaRPr lang="en-US" sz="108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3044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246120"/>
            <a:ext cx="7498080" cy="713232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44728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34472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920240" y="33192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Matching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3192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keywords route the query to the correct rule-based response branch.</a:t>
            </a:r>
            <a:endParaRPr lang="en-US" sz="108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39593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7498080" cy="713232"/>
          </a:xfrm>
          <a:prstGeom prst="roundRect">
            <a:avLst>
              <a:gd name="adj" fmla="val 11538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436168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3616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920240" y="42336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Lookup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42336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figures are retrieved from the Task 1 financial dataset (dictionary).</a:t>
            </a:r>
            <a:endParaRPr lang="en-US" sz="1080" dirty="0"/>
          </a:p>
        </p:txBody>
      </p:sp>
      <p:sp>
        <p:nvSpPr>
          <p:cNvPr id="29" name="Text 27"/>
          <p:cNvSpPr txBox="1"/>
          <p:nvPr/>
        </p:nvSpPr>
        <p:spPr>
          <a:xfrm>
            <a:off x="4114800" y="48737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7498080" cy="713232"/>
          </a:xfrm>
          <a:prstGeom prst="roundRect">
            <a:avLst>
              <a:gd name="adj" fmla="val 11538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1520" y="527608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97F3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1520" y="52760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920240" y="514807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514807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formatted sentence with the answer is returned — or a fallback if unmatched.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412480" y="2697480"/>
            <a:ext cx="3200400" cy="2103120"/>
          </a:xfrm>
          <a:prstGeom prst="roundRect">
            <a:avLst>
              <a:gd name="adj" fmla="val 3913"/>
            </a:avLst>
          </a:prstGeom>
          <a:solidFill>
            <a:srgbClr val="FBF3E9"/>
          </a:solidFill>
          <a:ln w="12700">
            <a:solidFill>
              <a:srgbClr val="F3E3D1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613648" y="2880360"/>
            <a:ext cx="2798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Path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8613648" y="3264408"/>
            <a:ext cx="27980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keyword/company matches, the else branch returns a clear fallback message.</a:t>
            </a:r>
            <a:endParaRPr lang="en-US" sz="108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user toward a supported query instead of failing silently.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Toolkit Behind Both Tasks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3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762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505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used for data analysis and the chatbot logic.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346704" y="14630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9584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3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29584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21762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529584" y="24505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handling, year-over-year growth rates, and aggregations.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144768" y="14630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3D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7648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21762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4505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environment for analysis, charts, and documentation.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8942832" y="1463040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25712" y="1645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3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25712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25712" y="2176272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CSV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9125712" y="24505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data compilation format before loading into pandas.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48640" y="3081528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32644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3D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79476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0690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revenue, net income, and cash flow trends.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3346704" y="3081528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29584" y="32644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3D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29584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529584" y="379476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EDGAR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3529584" y="40690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 of 10-K filings for all extracted figures.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6144768" y="3081528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27648" y="32644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3D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27648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327648" y="379476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(Python)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327648" y="40690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interaction for the chatbot prototype.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8942832" y="3081528"/>
            <a:ext cx="2615184" cy="1417320"/>
          </a:xfrm>
          <a:prstGeom prst="roundRect">
            <a:avLst>
              <a:gd name="adj" fmla="val 5806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25712" y="32644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3E3D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25712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9125712" y="379476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if-elif-else Logic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9125712" y="406908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query matching used inside the chatbot.</a:t>
            </a:r>
            <a:endParaRPr lang="en-US" sz="9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Project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87752" cy="1536192"/>
          </a:xfrm>
          <a:prstGeom prst="roundRect">
            <a:avLst>
              <a:gd name="adj" fmla="val 535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329184" cy="329184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039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04872"/>
            <a:ext cx="2221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reviewed 10-K filings on SEC EDGAR for all three companies.</a:t>
            </a:r>
            <a:endParaRPr lang="en-US" sz="980" dirty="0"/>
          </a:p>
        </p:txBody>
      </p:sp>
      <p:sp>
        <p:nvSpPr>
          <p:cNvPr id="11" name="Text 9"/>
          <p:cNvSpPr txBox="1"/>
          <p:nvPr/>
        </p:nvSpPr>
        <p:spPr>
          <a:xfrm>
            <a:off x="3136392" y="202082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417320"/>
            <a:ext cx="2587752" cy="1536192"/>
          </a:xfrm>
          <a:prstGeom prst="roundRect">
            <a:avLst>
              <a:gd name="adj" fmla="val 535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600200"/>
            <a:ext cx="329184" cy="329184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2044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039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Compilation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2404872"/>
            <a:ext cx="2221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figures into an Excel spreadsheet, then exported to CSV.</a:t>
            </a:r>
            <a:endParaRPr lang="en-US" sz="980" dirty="0"/>
          </a:p>
        </p:txBody>
      </p:sp>
      <p:sp>
        <p:nvSpPr>
          <p:cNvPr id="17" name="Text 15"/>
          <p:cNvSpPr txBox="1"/>
          <p:nvPr/>
        </p:nvSpPr>
        <p:spPr>
          <a:xfrm>
            <a:off x="5925312" y="202082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587752" cy="1536192"/>
          </a:xfrm>
          <a:prstGeom prst="roundRect">
            <a:avLst>
              <a:gd name="adj" fmla="val 535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600200"/>
            <a:ext cx="329184" cy="329184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09360" y="2039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2404872"/>
            <a:ext cx="2221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data into pandas; computed YoY changes and ratios in Jupyter.</a:t>
            </a:r>
            <a:endParaRPr lang="en-US" sz="980" dirty="0"/>
          </a:p>
        </p:txBody>
      </p:sp>
      <p:sp>
        <p:nvSpPr>
          <p:cNvPr id="23" name="Text 21"/>
          <p:cNvSpPr txBox="1"/>
          <p:nvPr/>
        </p:nvSpPr>
        <p:spPr>
          <a:xfrm>
            <a:off x="8714232" y="2020824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15400" y="1417320"/>
            <a:ext cx="2587752" cy="1536192"/>
          </a:xfrm>
          <a:prstGeom prst="roundRect">
            <a:avLst>
              <a:gd name="adj" fmla="val 535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98280" y="1600200"/>
            <a:ext cx="329184" cy="329184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98280" y="1600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2039112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Documentation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404872"/>
            <a:ext cx="2221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trends and conclusions in markdown cells within the notebook.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48640" y="3191256"/>
            <a:ext cx="2587752" cy="1536192"/>
          </a:xfrm>
          <a:prstGeom prst="roundRect">
            <a:avLst>
              <a:gd name="adj" fmla="val 535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3374136"/>
            <a:ext cx="329184" cy="329184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381304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Design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178808"/>
            <a:ext cx="2221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5 predefined query types mapped to the analyzed dataset.</a:t>
            </a:r>
            <a:endParaRPr lang="en-US" sz="980" dirty="0"/>
          </a:p>
        </p:txBody>
      </p:sp>
      <p:sp>
        <p:nvSpPr>
          <p:cNvPr id="34" name="Text 32"/>
          <p:cNvSpPr txBox="1"/>
          <p:nvPr/>
        </p:nvSpPr>
        <p:spPr>
          <a:xfrm>
            <a:off x="3136392" y="379476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337560" y="3191256"/>
            <a:ext cx="2587752" cy="1536192"/>
          </a:xfrm>
          <a:prstGeom prst="roundRect">
            <a:avLst>
              <a:gd name="adj" fmla="val 535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20440" y="3374136"/>
            <a:ext cx="329184" cy="329184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52044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520440" y="381304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Development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3520440" y="4178808"/>
            <a:ext cx="2221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if-elif-else matching with company/year detection.</a:t>
            </a:r>
            <a:endParaRPr lang="en-US" sz="980" dirty="0"/>
          </a:p>
        </p:txBody>
      </p:sp>
      <p:sp>
        <p:nvSpPr>
          <p:cNvPr id="40" name="Text 38"/>
          <p:cNvSpPr txBox="1"/>
          <p:nvPr/>
        </p:nvSpPr>
        <p:spPr>
          <a:xfrm>
            <a:off x="5925312" y="379476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126480" y="3191256"/>
            <a:ext cx="2587752" cy="1536192"/>
          </a:xfrm>
          <a:prstGeom prst="roundRect">
            <a:avLst>
              <a:gd name="adj" fmla="val 535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3374136"/>
            <a:ext cx="329184" cy="329184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30936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09360" y="381304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309360" y="4178808"/>
            <a:ext cx="2221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sample and edge-case queries; verified the fallback response.</a:t>
            </a:r>
            <a:endParaRPr lang="en-US" sz="980" dirty="0"/>
          </a:p>
        </p:txBody>
      </p:sp>
      <p:sp>
        <p:nvSpPr>
          <p:cNvPr id="46" name="Text 44"/>
          <p:cNvSpPr txBox="1"/>
          <p:nvPr/>
        </p:nvSpPr>
        <p:spPr>
          <a:xfrm>
            <a:off x="8714232" y="379476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915400" y="3191256"/>
            <a:ext cx="2587752" cy="1536192"/>
          </a:xfrm>
          <a:prstGeom prst="roundRect">
            <a:avLst>
              <a:gd name="adj" fmla="val 5357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098280" y="3374136"/>
            <a:ext cx="329184" cy="329184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098280" y="3374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3813048"/>
            <a:ext cx="2221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9098280" y="4178808"/>
            <a:ext cx="22219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 README covering functionality, supported queries, and limits.</a:t>
            </a:r>
            <a:endParaRPr lang="en-US" sz="9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Understanding Gained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Task 1: Data Analysis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experience reading and extracting figures from real SEC 10-K filings.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pandas for year-over-year growth calculations and financial ratios (margins, CAGR).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account for differing fiscal year-ends when comparing companies.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interpreted comparison charts (bar and line) using matplotlib.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5577840" cy="4572000"/>
          </a:xfrm>
          <a:prstGeom prst="roundRect">
            <a:avLst>
              <a:gd name="adj" fmla="val 1800"/>
            </a:avLst>
          </a:prstGeom>
          <a:solidFill>
            <a:srgbClr val="13294B"/>
          </a:solidFill>
          <a:ln w="12700">
            <a:solidFill>
              <a:srgbClr val="13294B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Task 2: Chatbot Prototype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574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Understood how to translate structured data into simple rule-based logic.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Practiced designing predefined queries and mapping them to canned, accurate responses.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importance of fallback handling and testing edge cases.</a:t>
            </a:r>
            <a:endParaRPr lang="en-US" sz="12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experience documenting a project clearly for a non-technical reader.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Prototype Stops — and Could Grow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49240" cy="4572000"/>
          </a:xfrm>
          <a:prstGeom prst="roundRect">
            <a:avLst>
              <a:gd name="adj" fmla="val 1800"/>
            </a:avLst>
          </a:prstGeom>
          <a:solidFill>
            <a:srgbClr val="FBF3E9"/>
          </a:solidFill>
          <a:ln w="12700">
            <a:solidFill>
              <a:srgbClr val="F3E3D1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600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5740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uses keyword matching only — no real natural language understanding.</a:t>
            </a:r>
            <a:endParaRPr lang="en-US" sz="12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dataset: only Microsoft, Apple, and Tesla for FY2023–FY2025.</a:t>
            </a:r>
            <a:endParaRPr lang="en-US" sz="12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conversational memory — each question is handled independently.</a:t>
            </a:r>
            <a:endParaRPr lang="en-US" sz="12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questions (multiple companies/years) may not resolve as intended.</a:t>
            </a:r>
            <a:endParaRPr lang="en-US" sz="12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extracted manually, which is time-consuming and not scalable.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5577840" cy="4572000"/>
          </a:xfrm>
          <a:prstGeom prst="roundRect">
            <a:avLst>
              <a:gd name="adj" fmla="val 1800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6364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574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(NLP) for more flexible question understanding.</a:t>
            </a:r>
            <a:endParaRPr lang="en-US" sz="12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to ground answers in source filings.</a:t>
            </a:r>
            <a:endParaRPr lang="en-US" sz="12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SEC/XBRL data extraction to remove manual copying.</a:t>
            </a:r>
            <a:endParaRPr lang="en-US" sz="12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Live/real-time financial data feeds instead of a static dataset.</a:t>
            </a:r>
            <a:endParaRPr lang="en-US" sz="1200" dirty="0"/>
          </a:p>
          <a:p>
            <a:pPr marL="177800" indent="-177800">
              <a:spcAft>
                <a:spcPts val="1500"/>
              </a:spcAft>
              <a:buSzPct val="100000"/>
              <a:buChar char="•"/>
            </a:pPr>
            <a:r>
              <a:rPr lang="en-US" sz="12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GenAI-based conversational capabilities for open-ended financial Q&amp;A.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Deliverables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 |  Forage Virtual Experience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20440" cy="1572768"/>
          </a:xfrm>
          <a:prstGeom prst="roundRect">
            <a:avLst>
              <a:gd name="adj" fmla="val 5233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184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591056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Data Spreadsheet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002536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Excel/CSV file with extracted 10-K figures for all three companies, FY2023–FY2025.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0248" y="1417320"/>
            <a:ext cx="3520440" cy="1572768"/>
          </a:xfrm>
          <a:prstGeom prst="roundRect">
            <a:avLst>
              <a:gd name="adj" fmla="val 5233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71416" y="16184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71416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28616" y="1591056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Notebook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71416" y="2002536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with pandas calculations, charts, and written observations.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1856" y="1417320"/>
            <a:ext cx="3520440" cy="1572768"/>
          </a:xfrm>
          <a:prstGeom prst="roundRect">
            <a:avLst>
              <a:gd name="adj" fmla="val 5233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618488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93024" y="1618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50224" y="1591056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Script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193024" y="2002536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financial_chatbot.py — the complete rule-based chatbot implementation.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191256"/>
            <a:ext cx="3520440" cy="1572768"/>
          </a:xfrm>
          <a:prstGeom prst="roundRect">
            <a:avLst>
              <a:gd name="adj" fmla="val 5233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392424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336499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 &amp; Results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" y="3776472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test_chatbot.py and test_results.txt, covering sample and fallback queries.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70248" y="3191256"/>
            <a:ext cx="3520440" cy="1572768"/>
          </a:xfrm>
          <a:prstGeom prst="roundRect">
            <a:avLst>
              <a:gd name="adj" fmla="val 5233"/>
            </a:avLst>
          </a:prstGeom>
          <a:solidFill>
            <a:srgbClr val="F3F5F8"/>
          </a:solidFill>
          <a:ln w="12700">
            <a:solidFill>
              <a:srgbClr val="DCE1E8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71416" y="3392424"/>
            <a:ext cx="310896" cy="310896"/>
          </a:xfrm>
          <a:prstGeom prst="ellipse">
            <a:avLst/>
          </a:prstGeom>
          <a:solidFill>
            <a:srgbClr val="F3E3D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471416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28616" y="3364992"/>
            <a:ext cx="2660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README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71416" y="3776472"/>
            <a:ext cx="311810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explaining chatbot functionality, supported queries, and limitations.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BF3E9"/>
          </a:solidFill>
          <a:ln w="12700">
            <a:solidFill>
              <a:srgbClr val="F3E3D1"/>
            </a:solidFill>
            <a:prstDash val="solid"/>
          </a:ln>
          <a:effectLst>
            <a:outerShdw sx="100000" sy="100000" kx="0" ky="0" algn="bl" rotWithShape="0" blurRad="76200" dist="25400" dir="5400000">
              <a:srgbClr val="8090A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77240" y="5193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7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Certification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546811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Forage completion certificate for the BCG GenAI Job Simulation can be inserted here once issued by the platform. It is not included in this version of the report.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023360" cy="4023360"/>
          </a:xfrm>
          <a:prstGeom prst="ellipse">
            <a:avLst/>
          </a:prstGeom>
          <a:solidFill>
            <a:srgbClr val="1F3D6B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754880"/>
            <a:ext cx="3291840" cy="3291840"/>
          </a:xfrm>
          <a:prstGeom prst="ellipse">
            <a:avLst/>
          </a:prstGeom>
          <a:solidFill>
            <a:srgbClr val="1F3D6B"/>
          </a:solidFill>
          <a:ln/>
        </p:spPr>
      </p:sp>
      <p:sp>
        <p:nvSpPr>
          <p:cNvPr id="4" name="Shape 2"/>
          <p:cNvSpPr/>
          <p:nvPr/>
        </p:nvSpPr>
        <p:spPr>
          <a:xfrm>
            <a:off x="9784080" y="5394960"/>
            <a:ext cx="1280160" cy="1280160"/>
          </a:xfrm>
          <a:prstGeom prst="ellipse">
            <a:avLst/>
          </a:prstGeom>
          <a:solidFill>
            <a:srgbClr val="C97F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0" y="352044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GenAI Job Simulation — Forage Virtual Experience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97196" y="4114800"/>
            <a:ext cx="2194560" cy="0"/>
          </a:xfrm>
          <a:prstGeom prst="line">
            <a:avLst/>
          </a:prstGeom>
          <a:noFill/>
          <a:ln w="25400">
            <a:solidFill>
              <a:srgbClr val="C97F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0" y="429768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Ritesh Kumar Yadav  |  B.Tech CSE, 2CSE34  |  Roll No. 25SCS1003003944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9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  |  Academic Year 2026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2026-09-20T13:09:45Z</dcterms:created>
  <dcterms:modified xsi:type="dcterms:W3CDTF">2026-09-20T13:09:45Z</dcterms:modified>
</cp:coreProperties>
</file>